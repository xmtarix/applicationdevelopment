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BASKETBALL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</a:rPr>
              <a:t>LEBANON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LEBANON BASKETBALL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B00"/>
                </a:solidFill>
              </a:rPr>
              <a:t>STADIUM RESERVATION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246120"/>
            <a:ext cx="57881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E0E0E0"/>
                </a:solidFill>
              </a:rPr>
              <a:t>COMP420 - Application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5A5A6"/>
                </a:solidFill>
              </a:rPr>
              <a:t>Full-Stack ASP.NET Core 8 MVC Application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663440"/>
            <a:ext cx="3474720" cy="1463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4663440"/>
            <a:ext cx="3474720" cy="1463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4663440"/>
            <a:ext cx="3474720" cy="14630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709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00"/>
                </a:solidFill>
              </a:rPr>
              <a:t>5 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0E0"/>
                </a:solidFill>
              </a:rPr>
              <a:t>N-Layer
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709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00"/>
                </a:solidFill>
              </a:rPr>
              <a:t>3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0E0"/>
                </a:solidFill>
              </a:rPr>
              <a:t>Customer / Manager
/ 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7091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B00"/>
                </a:solidFill>
              </a:rPr>
              <a:t>22 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120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0E0E0"/>
                </a:solidFill>
              </a:rPr>
              <a:t>JWT + Cookie Auth
Swagger UI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</a:rPr>
              <a:t>Finding courts made simple - across all Lebanon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Why Lebanon needs this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11430000" cy="1051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"Basketball players and teams across Lebanon have no centralized platform to check court availability, compare prices, or make reservations - relying instead on phone calls and personal contacts."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2697480" cy="1920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72491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Phone Calls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8211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Booking requires knowing the manager personally or having their number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2697480"/>
            <a:ext cx="2697480" cy="1920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72491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No Availability Info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18211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Impossible to know if a court is free without calling ahead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697480"/>
            <a:ext cx="2697480" cy="1920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272491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Price Opacity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8211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No way to compare pricing across different courts or venues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2697480"/>
            <a:ext cx="2697480" cy="1920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724912"/>
            <a:ext cx="2514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Discovery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182112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Players don't even know what basketball courts exist in their area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754880"/>
            <a:ext cx="11430000" cy="594360"/>
          </a:xfrm>
          <a:prstGeom prst="rect">
            <a:avLst/>
          </a:prstGeom>
          <a:solidFill>
            <a:srgbClr val="0A2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006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00"/>
                </a:solidFill>
              </a:rPr>
              <a:t>Our Solution: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80060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 searchable, bookable, nationwide directory of basketball courts - available online 24/7.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Features by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One platform - three actors - complete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3794760" cy="4983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3794760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81328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</a:rPr>
              <a:t>CUSTOMER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011680"/>
            <a:ext cx="3520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- Search courts by location, price &amp; type
- Two-week calendar with live price preview
- Atomic booking - no double-booking possible
- Cancel within a configurable window
- Rate &amp; review completed bookings (1-5 stars)
- Save favourite stadiums
- In-app notifications for all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63040"/>
            <a:ext cx="3794760" cy="4983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463040"/>
            <a:ext cx="3794760" cy="4572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81328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STADIUM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011680"/>
            <a:ext cx="3520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- Register stadiums (pending admin approval)
- Upload stadium photos
- Manage courts &amp; bulk-generate time slots
- Day-exclusion for slot generation
- Confirm / reject bookings with a reason
- Revenue &amp; rating dashboard
- Track all pending requests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63040"/>
            <a:ext cx="3794760" cy="49834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63040"/>
            <a:ext cx="3794760" cy="4572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81328"/>
            <a:ext cx="3794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ADMINISTRATOR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11680"/>
            <a:ext cx="35204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0E0"/>
                </a:solidFill>
              </a:rPr>
              <a:t>- Approve / reject stadium registrations
- Manage users: search, filter, activate/deactivate
- Change user roles
- Lebanese location hierarchy CRUD
- System-wide reports with daily breakdown
- Per-stadium revenue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Architecture &amp;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5-project N-Layer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7772400" cy="82296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Browser  /  REST 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86537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Bootstrap 5 UI  |  Swagger 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</a:rPr>
              <a:t>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77440"/>
            <a:ext cx="7772400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4231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ASP.NET Core 8 MVC  +  Web API (JWT)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2549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Cookie Auth  |  JWT Bearer  |  Antiforgery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2004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</a:rPr>
              <a:t>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337560"/>
            <a:ext cx="7772400" cy="822960"/>
          </a:xfrm>
          <a:prstGeom prst="rect">
            <a:avLst/>
          </a:prstGeom>
          <a:solidFill>
            <a:srgbClr val="0A29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3832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Business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8561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Services  |  DTOs  |  Domain Exceptions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60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</a:rPr>
              <a:t>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297680"/>
            <a:ext cx="7772400" cy="82296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34340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74573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Repositories  |  Unit of Work  |  EF Core 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206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</a:rPr>
              <a:t>v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257800"/>
            <a:ext cx="77724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3035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SQLite Database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705856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LebanonBasketball.db  (shared by Web &amp; API)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1417320"/>
            <a:ext cx="2834640" cy="4846320"/>
          </a:xfrm>
          <a:prstGeom prst="rect">
            <a:avLst/>
          </a:prstGeom>
          <a:solidFill>
            <a:srgbClr val="0A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6840" y="14813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00"/>
                </a:solidFill>
              </a:rPr>
              <a:t>TECH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19202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ASP.NET Core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234086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C# 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76148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EF Core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1821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SQLite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60273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ASP.NET Identity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023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Serilog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44398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Bootstrap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486460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xUnit + Moq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2852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Swagger / OpenAPI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70585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JWT Bearer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Database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EF Core Code-First  |  SQLite  |  Location hierarchy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63040"/>
            <a:ext cx="1536192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48132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Governorate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59105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11095" y="1463040"/>
            <a:ext cx="1536192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11095" y="148132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District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7" y="159105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2" y="1463040"/>
            <a:ext cx="1536192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48132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159105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76088" y="1463040"/>
            <a:ext cx="1536192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76088" y="148132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</a:rPr>
              <a:t>Stadium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159105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58584" y="1463040"/>
            <a:ext cx="1536192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58584" y="148132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</a:rPr>
              <a:t>Court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4776" y="159105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463040"/>
            <a:ext cx="1536192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148132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</a:rPr>
              <a:t>TimeSlot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77272" y="1591056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323576" y="1463040"/>
            <a:ext cx="1536192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23576" y="1481328"/>
            <a:ext cx="15361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</a:rPr>
              <a:t>Reservation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176272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22219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ApplicationUser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" y="2651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Customer / Manager / Admin with ASP.NET Identity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176272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2221991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Stadium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65176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Manager-owned, admin-approved, with images &amp; opening hours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200400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" y="32461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Court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" y="3675887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Indoor / Outdoor type, belongs to a Stadium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200400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32461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TimeSlot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3675887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Bulk-generated; IsAvailable flag, UTC start/end times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224528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" y="42702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Reservation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" y="470001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Links User &lt;-&gt; TimeSlot; full status lifecycle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224528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36208" y="427024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Notification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6208" y="470001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In-app messages for every reservation event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248656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" y="52943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Review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57241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1-5 star rating on a completed reservation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5248656"/>
            <a:ext cx="566928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36208" y="529437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</a:rPr>
              <a:t>AuditLog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572414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Every sensitive action recorded for traceability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26364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6B00"/>
                </a:solidFill>
              </a:rPr>
              <a:t>Double-booking prevention: unique DB index on Reservations(TimeSlotId) + atomic UPDATE (IsAvailable=0 inside transaction) + UI filter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Reservation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From slot selection to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194560" cy="3200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19456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Select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603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Customer picks court,
date &amp; time from
2-week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79" y="251460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87751" y="1463040"/>
            <a:ext cx="2194560" cy="3200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87751" y="14630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1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9191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Confirm Booking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9191" y="25603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Slot atomically claimed
Status -&gt; PENDING
Notification 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251460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3" y="1463040"/>
            <a:ext cx="2194560" cy="3200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01183" y="14630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01183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2623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Manager Decides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3" y="25603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Confirms -&gt; CONFIRMED
Rejects -&gt; slot freed
Customer notified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5744" y="251460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14616" y="1463040"/>
            <a:ext cx="2194560" cy="3200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14616" y="1463040"/>
            <a:ext cx="2194560" cy="5029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14616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00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06055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Auto-Complete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06055" y="25603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Background service
runs every 15 min
End time -&gt; 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2514600"/>
            <a:ext cx="137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6B00"/>
                </a:solidFill>
              </a:rPr>
              <a:t>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28048" y="1463040"/>
            <a:ext cx="2194560" cy="32004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28048" y="1463040"/>
            <a:ext cx="2194560" cy="5029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28048" y="1481328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19488" y="20116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Leave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9488" y="2560320"/>
            <a:ext cx="2011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Customer rates
1-5 stars on
completed booking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892040"/>
            <a:ext cx="2468880" cy="6858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910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2395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0E0E0"/>
                </a:solidFill>
              </a:rPr>
              <a:t>Slot locked, awaiting manager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29000" y="4892040"/>
            <a:ext cx="2468880" cy="685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4910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2395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1A1A2E"/>
                </a:solidFill>
              </a:rPr>
              <a:t>Guaranteed, reminder sent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892040"/>
            <a:ext cx="2468880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4910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52395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0E0E0"/>
                </a:solidFill>
              </a:rPr>
              <a:t>Can leave a review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15400" y="4892040"/>
            <a:ext cx="246888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400" y="4910328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52395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E0E0E0"/>
                </a:solidFill>
              </a:rPr>
              <a:t>Slot released for rebooking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5A5A6"/>
                </a:solidFill>
              </a:rPr>
              <a:t>Time zone: all comparisons via IDateTimeProvider -&gt; Asia/Beirut (DST-safe, UTC stored, wall-clock displayed)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0807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Background service: idempotent - reminder flag persisted before sending, so mid-loop failure cannot double-notify.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REST API &amp; Swagger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JWT Bearer auth  |  22 endpoints  |  OpenAPI 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435608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" y="1435608"/>
            <a:ext cx="713232" cy="2788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1453896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/api/auth/login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463040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1463040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Obtain JWT bearer token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1714500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8600" y="1714500"/>
            <a:ext cx="713232" cy="2788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600" y="1732788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1741932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/api/auth/register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741932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741932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Register customer, get token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993392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" y="1993392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" y="2011680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020824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/api/auth/me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020824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Bearer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020824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Current user 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272284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272284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2290572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2299716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/api/stadiums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299716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2299716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Search stadiums (paginated)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2551176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2551176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2569464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2578608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/api/stadiums/{id}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2578608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69480" y="2578608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Stadium details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" y="2830068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" y="2830068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8600" y="2848356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" y="2857499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/api/stadiums/{id}/courts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857499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2857499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Courts at a stadium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108960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3108960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8600" y="3127248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3136392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/api/stadiums/{id}/availability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3136392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69480" y="3136392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Slots for a court on a date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8600" y="3387852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28600" y="3387852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8600" y="3406140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3415284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/api/stadiums/{id}/calendar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3415284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69480" y="3415284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Two-week availability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3666744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" y="3666744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8600" y="3685031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3694176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/api/stadiums/{id}/reviews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3694176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9480" y="3694176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Stadium reviews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3945636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28600" y="3945636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8600" y="3963924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" y="3973068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/api/locations/governorates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26480" y="3973068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9480" y="3973068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All governorates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28600" y="4224528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28600" y="4224528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8600" y="4242816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4251960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/api/locations/districts/{govId}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126480" y="4251960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69480" y="4251960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Districts by governorate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28600" y="4503420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28600" y="4503420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8600" y="4521707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05840" y="4530852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/api/locations/areas/{distId}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126480" y="4530852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4530852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Areas by district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28600" y="4782312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28600" y="4782312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8600" y="4800600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" y="4809744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/api/locations/hierarchy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126480" y="4809744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ECC71"/>
                </a:solidFill>
              </a:rPr>
              <a:t>Public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69480" y="4809744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Full location tree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5061204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28600" y="5061204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28600" y="5079492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5840" y="5088636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/api/reservations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0" y="5088636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Bearer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69480" y="5088636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My reservations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8600" y="5340096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28600" y="5340096"/>
            <a:ext cx="713232" cy="2788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8600" y="5358383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" y="5367528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/api/reservations/{id}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126480" y="5367528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Bearer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269480" y="5367528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Single reservation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28600" y="5618988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28600" y="5618988"/>
            <a:ext cx="713232" cy="2788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28600" y="5637276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05840" y="5646420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/api/reservations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26480" y="5646420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Bearer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269480" y="5646420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Create reservation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5897880"/>
            <a:ext cx="11704320" cy="27889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228600" y="5897880"/>
            <a:ext cx="713232" cy="27889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8600" y="5916168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05840" y="5925312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/api/reservations/{id}/cancel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26480" y="5925312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Bearer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69480" y="5925312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Cancel reservation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28600" y="6176772"/>
            <a:ext cx="11704320" cy="278892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228600" y="6176772"/>
            <a:ext cx="713232" cy="2788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8600" y="6195059"/>
            <a:ext cx="713232" cy="233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05840" y="6204204"/>
            <a:ext cx="502920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/api/reservations/{id}/review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26480" y="6204204"/>
            <a:ext cx="109728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00"/>
                </a:solidFill>
              </a:rPr>
              <a:t>Bearer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269480" y="6204204"/>
            <a:ext cx="4663440" cy="214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0E0E0"/>
                </a:solidFill>
              </a:rPr>
              <a:t>Review completed booking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28600" y="6473952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Swagger UI at API root URL  |  JWT key minimum 32 chars (env vars / user-secrets)  |  Refuses to start without 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Defence in depth - every layer protected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3794760" cy="38404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53896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874519"/>
            <a:ext cx="35661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- ASP.NET Core Identity (Cookie + JWT Bearer)
- Account lockout: 5 failed attempts / 15 min
- Security-stamp rotation invalidates old cookies
- Deactivated accounts blocked at login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417320"/>
            <a:ext cx="379476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1417320"/>
            <a:ext cx="3794760" cy="38404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453896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AUTHORIZATION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1874519"/>
            <a:ext cx="35661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- Role-based via base controllers (3 roles)
- Ownership enforced in service layer by ID
- Managers: own stadiums only
- Customers: own reservations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417320"/>
            <a:ext cx="379476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3794760" cy="38404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53896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INPUT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1874519"/>
            <a:ext cx="35661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- Antiforgery tokens globally (AutoValidate...)
- DTOs &amp; ViewModels prevent over-posting
- Client + server validation on all forms
- EF Core parameterized queries -&gt; no SQLi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49039"/>
            <a:ext cx="379476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3794760" cy="38404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785615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FILE UPLOADS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4206240"/>
            <a:ext cx="35661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- Extension allow-list + size limit
- Magic-byte (file header) verification
- Generated filenames (no user control)
- Path-traversal guards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749039"/>
            <a:ext cx="379476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06240" y="3749039"/>
            <a:ext cx="3794760" cy="38404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3785615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OUTPUT &amp; ERRORS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4206240"/>
            <a:ext cx="35661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- Razor auto-encoding -&gt; no XSS
- Domain exceptions carry safe messages only
- Unexpected errors -&gt; generic page + log
- Serilog: never logs passwords or tokens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38160" y="3749039"/>
            <a:ext cx="3794760" cy="21945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49039"/>
            <a:ext cx="3794760" cy="38404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3785615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AUDIT &amp; LOGGING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7888" y="4206240"/>
            <a:ext cx="356616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- AuditLog entity for sensitive actions
- Serilog rolling file (Console + file sink)
- Structured logs, correlation IDs
- Git history with no secrets committed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Unit Tests &amp; Code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xUnit + Moq  |  deterministic  |  no N+1 queries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788920" cy="49377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78892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813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Reservation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965960"/>
            <a:ext cx="25786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Ownership checks (user owns reservation)
v  Cancellation window enforcement
v  Status transition validation
v  Race-condition handling
v  Review eligibility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82112" y="1463040"/>
            <a:ext cx="2788920" cy="49377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1463040"/>
            <a:ext cx="278892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82112" y="14813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Availability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65960"/>
            <a:ext cx="25786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Past-slot exclusion from results
v  Cancelled-slot reuse after rejection
v  Calendar grouping by date
v  Two-week window boundary cases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9904" y="1463040"/>
            <a:ext cx="2788920" cy="49377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1463040"/>
            <a:ext cx="278892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9904" y="14813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Stadium &amp; Slot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9632" y="1965960"/>
            <a:ext cx="25786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Stadium ownership &amp; approval flow
v  Time-interval arithmetic
v  Duplicate slot skipping
v  Multi-day span generation
v  Excluded days handling
v  Invalid range rejection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97696" y="1463040"/>
            <a:ext cx="2788920" cy="49377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463040"/>
            <a:ext cx="2788920" cy="4114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97696" y="148132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1A2E"/>
                </a:solidFill>
              </a:rPr>
              <a:t>Time Handling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1965960"/>
            <a:ext cx="2578608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0E0"/>
                </a:solidFill>
              </a:rPr>
              <a:t>v  Fixed TestClock injection
v  DST-safe Asia/Beirut timezone
v  UTC storage vs wall-clock display
v  Reminder idempotency guarantee
v  IDateTimeProvider abstraction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* IQueryable + AsNoTracking -&gt; no N+1 queries, optimised EF Core projections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* IDateTimeProvider -&gt; fully testable time-dependent logic with a fixed TestClock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* RoleNames constants -&gt; no typo-silent [Authorize] failures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92240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5A5A6"/>
                </a:solidFill>
              </a:rPr>
              <a:t>* Global exception middleware -&gt; safe error pages, structured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COMP420 Requirements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All requirements satisfied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.NET 8 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9280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ASP.NET Core 8 MVC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417320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79" y="146304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EF Core + Relational 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79" y="189280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SQLite, Code-First migrations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6304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N-Layer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89280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5 projects: Web, API, Business, Data, Tests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41448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48716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Repository + Unit of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2916936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Generic repos, atomic UoW transactions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441448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248716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Identity + Role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2916936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3 roles, Cookie &amp; JWT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441448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8716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Serilog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16936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Console + rolling file, no PII logged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465576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511296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Exception Handling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3941064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Global middleware, typed domain exceptions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465576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79" y="3511296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REST API + Swagger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3941064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22 endpoints, OpenAPI with JWT auth flow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3465576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511296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Client + Server Validation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941064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Data annotations + JS + server-side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89704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4535424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Optimised Queries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965192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IQueryable, AsNoTracking, no N+1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4489704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79" y="4535424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Background Service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79" y="4965192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Every 15 min: complete + remind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4489704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0" y="4535424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3-5 CRUD Modules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965192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Stadium, Court, TimeSlot, Location, User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513832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5559552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98932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Customer, Manager, Admin dashboards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5513832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97679" y="5559552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Reports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79" y="598932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Daily breakdown + per-stadium revenue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5513832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0" y="5559552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Responsive Bootstrap 5 UI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98932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Mobile-first, Bootstrap Icons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6537960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8368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Unit Tests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70134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xUnit + Moq, TestClock, full coverage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206240" y="6537960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79" y="658368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Git + .gitignore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97679" y="70134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Version-controlled, no secrets committed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6537960"/>
            <a:ext cx="3794760" cy="932688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6583680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ECC71"/>
                </a:solidFill>
              </a:rPr>
              <a:t>OK  Real-World Problem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7013448"/>
            <a:ext cx="3611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Court discovery &amp; booking across Lebanon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Installation &amp; Getting Started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0E0E0"/>
                </a:solidFill>
              </a:rPr>
              <a:t>Zero-database-server setup - SQLite auto-created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16459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5669280" cy="21762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02920" cy="21762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2240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Clone &amp; Restore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4983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git clone &lt;repository-url&gt;
cd msweid
dotnet restore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463040"/>
            <a:ext cx="5669280" cy="21762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502920" cy="21762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2402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536192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Run the Web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011680"/>
            <a:ext cx="4983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dotnet run --project LebanonBasketballReservation.Web
Database migrated &amp; seeded automatically on first launch.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94760"/>
            <a:ext cx="5669280" cy="21762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502920" cy="21762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45720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67912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Run the API  (optional)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343400"/>
            <a:ext cx="4983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dotnet run --project LebanonBasketballReservation.API
Swagger UI available at the API root URL.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794760"/>
            <a:ext cx="5669280" cy="217627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3794760"/>
            <a:ext cx="502920" cy="21762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5720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3867912"/>
            <a:ext cx="4983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Configure JWT Secret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343400"/>
            <a:ext cx="49834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0E0E0"/>
                </a:solidFill>
              </a:rPr>
              <a:t>dotnet user-secrets set "Jwt:Key" "&lt;32+ char string&gt;"
  --project LebanonBasketballReservation.API
API refuses to start without a key &gt;= 32 chars.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6172200"/>
            <a:ext cx="11640312" cy="5303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19048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</a:rPr>
              <a:t>Dev Seed Accounts: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61904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Admin: admin@lbbasket.com / Admin@123!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61904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Manager: manager@lbbasket.com / Manager@123!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19048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0E0E0"/>
                </a:solidFill>
              </a:rPr>
              <a:t>Customer: customer@lbbasket.com / Customer@123!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317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F6B00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154680"/>
            <a:ext cx="5788152" cy="64008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0E0"/>
                </a:solidFill>
              </a:rPr>
              <a:t>* Full-Stack ASP.NET Core 8 MVC  |  5-Project N-Layer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58768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0E0"/>
                </a:solidFill>
              </a:rPr>
              <a:t>* 22 REST API Endpoints  |  JWT + Cookie Auth  |  SQLite Zero-Setup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334256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0E0"/>
                </a:solidFill>
              </a:rPr>
              <a:t>* Atomic Double-Booking Prevention  |  DST-Safe Time Handling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9744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0E0"/>
                </a:solidFill>
              </a:rPr>
              <a:t>* Background Service  |  In-App Notifications  |  Comprehensive Unit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285232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0E0E0"/>
                </a:solidFill>
              </a:rPr>
              <a:t>* Real-World Solution for Lebanon's Basketball Community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14476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5A5A6"/>
                </a:solidFill>
              </a:rPr>
              <a:t>COMP420 - Application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